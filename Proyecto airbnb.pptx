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7" r:id="rId6"/>
    <p:sldId id="259" r:id="rId7"/>
    <p:sldId id="260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906D6-12A6-32AE-9F5D-8A693920B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526CA7-BEC4-A0B7-D4D3-D576D49B9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961F43-C5A9-58C9-D65F-2494E863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BEFF0A-BCA2-38BD-FC63-8CC4136A7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4429CE-5787-5CC6-5596-0ACFE29F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849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B9D29-EA72-9EF6-B9EE-C9A3C03CF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25A03A-A969-C440-6F63-12D65F7B4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E5E4C8-DEB2-1729-E62B-8CCB5272E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98D178-E0B3-C74D-4217-1F9F7C86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980E8-3373-CE36-D031-B81683CB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908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9E767-A6C8-1CDC-0BC8-ECFCC55F3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DE5475-8A4C-9022-16E3-2196CECA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A82311-2C76-D930-BA2E-044402359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341419-1565-3593-4A18-FBA91DDD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C32582-1D38-18CA-04C2-C898CE0D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104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CB14E-EEEA-AB77-35E8-970B808A5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22DEAA-3DCD-7418-697D-0B3717971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BA79D0-2957-8A95-064A-816C848A7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242D0F-C2F1-949E-B79E-2994EBA8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E5C7D4-E82A-0EF7-38F5-EA08398C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7F4D63-53A9-7D6C-2161-94102417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238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4CB34-7E71-8FF8-8CB7-8FFA1975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E88D67-ADFE-7B5B-7DEB-873AB4D0B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B0FD9B-41F5-984F-BC5E-B6E2C8333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54366C-B5FB-4170-785F-82590D3CF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AC44FD-F914-2E40-A499-F3CC0BB70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C4D1FD-E928-1419-2FF1-430B2A1F6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A016A19-8888-BE1D-6020-F450D41D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C5FCAB2-7972-C157-A299-B1D39C32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44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7F11D-9982-BD9C-80A3-5D2AD931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B5EC9DE-6493-7D68-80A9-669F0B1B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3A60C9E-9D3E-02DB-5FC0-43A928DA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B9C061-5CA0-D260-246F-8EBE5093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0547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0292B-E7F9-A543-9A2B-B1C2AFE5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BE4C9A3-E06B-8B35-3136-F349E939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34BC55-3F67-EE13-C1AA-E3BC515B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8306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55A94-A53E-EBA1-3062-949530C3B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C561A1-6C55-3729-EFD1-1A81A16E8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03872C-40F8-E0D2-A137-CD1D58511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6F07C5-77E9-6E8F-E383-FA2568A7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CD21FA-4B10-A52B-B49F-E157FA33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7E0523-BE40-5B94-5406-4398373F2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9806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C07A5-DCBE-9CF6-12EE-673901017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B3E1F3-EAF6-D182-DAF2-B0272EF30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42E7E3-124A-FD69-734E-A945F8179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4DFAA2-3F73-6991-484D-5FFBC986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DE98BB-044D-7EF8-E069-CAD04C72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3DEA62-0B8F-FC89-CC0B-7F9AE642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6836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83007-7623-BDAD-2AE7-E6B760DB4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546BB7-BCB0-D0F6-6488-0E9437A4B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A30005-D3AA-AD49-6156-9A200EB3B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19FD01-BBDD-0068-CD4F-1E8779CD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A7559D-2844-EC21-2A53-92163E0C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186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FCCD991-20E9-36FA-F26F-12A852825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64AFED-340F-7132-0F10-F6E9E453D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BF142C-8C1C-C474-F925-25355072B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1EE2E3-87FD-2AB3-D875-A2CDA3FA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AB1F85-715D-DE84-D4F6-286777D1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442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470398-B990-2E60-7F0D-644E656B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E936B0-EA86-A6A9-9804-AD535B17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4955C3-908B-8D40-6099-F780206A8C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F7BA7-15A9-4014-8460-CC43F85255F7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F1C04D-11ED-A48F-49A4-5645A5982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B8A4F1-1C27-1103-5F8E-006F30359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0E590-E722-47B7-B03F-83A0140D49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692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D8985-B094-C1DE-4463-CD711886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Preguntas de investigación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A117AA-EA3A-436C-12E0-51FFB9E9A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Si soy un propietario con x características de vivienda, ¿a qué precio puedo alquilar mi vivienda?</a:t>
            </a:r>
          </a:p>
          <a:p>
            <a:r>
              <a:rPr lang="es-MX" dirty="0"/>
              <a:t>Dadas unas características de mi vivienda, cuál puede ser el nivel de ocupación en el año.</a:t>
            </a:r>
            <a:endParaRPr lang="es-CO" dirty="0"/>
          </a:p>
          <a:p>
            <a:r>
              <a:rPr lang="es-MX" dirty="0"/>
              <a:t>¿Cuál puede ser la rentabilidad anual de ese espacio? (Costo de oportunidad frente a un alquiler regular).</a:t>
            </a:r>
          </a:p>
          <a:p>
            <a:r>
              <a:rPr lang="es-MX" dirty="0"/>
              <a:t>[Intermedio] ¿Un comentario puede clasificarse en positivo, negativo o neutral?</a:t>
            </a:r>
          </a:p>
        </p:txBody>
      </p:sp>
    </p:spTree>
    <p:extLst>
      <p:ext uri="{BB962C8B-B14F-4D97-AF65-F5344CB8AC3E}">
        <p14:creationId xmlns:p14="http://schemas.microsoft.com/office/powerpoint/2010/main" val="153495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A5601F9B-D1C5-FB59-A09D-6052048E7F61}"/>
              </a:ext>
            </a:extLst>
          </p:cNvPr>
          <p:cNvSpPr/>
          <p:nvPr/>
        </p:nvSpPr>
        <p:spPr>
          <a:xfrm>
            <a:off x="9548991" y="877370"/>
            <a:ext cx="2522777" cy="59004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643B9961-47A9-9000-FD0E-1C176D6C9D39}"/>
              </a:ext>
            </a:extLst>
          </p:cNvPr>
          <p:cNvSpPr/>
          <p:nvPr/>
        </p:nvSpPr>
        <p:spPr>
          <a:xfrm>
            <a:off x="5212519" y="911524"/>
            <a:ext cx="4258745" cy="59004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BA4E0767-B220-6539-592E-C1A88A634708}"/>
              </a:ext>
            </a:extLst>
          </p:cNvPr>
          <p:cNvSpPr/>
          <p:nvPr/>
        </p:nvSpPr>
        <p:spPr>
          <a:xfrm>
            <a:off x="42596" y="957532"/>
            <a:ext cx="4979598" cy="59004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B00BE4-939B-5E05-81C6-34A2F67F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28" y="560"/>
            <a:ext cx="4979598" cy="1110453"/>
          </a:xfrm>
        </p:spPr>
        <p:txBody>
          <a:bodyPr/>
          <a:lstStyle/>
          <a:p>
            <a:r>
              <a:rPr lang="es-MX" dirty="0"/>
              <a:t>Set de datos (3)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361631-6973-38B9-0E58-D89486291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31" y="1673435"/>
            <a:ext cx="4829175" cy="1975538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1. Datos generales</a:t>
            </a:r>
            <a:r>
              <a:rPr lang="es-CO" dirty="0"/>
              <a:t> </a:t>
            </a:r>
            <a:r>
              <a:rPr lang="es-CO" dirty="0" err="1"/>
              <a:t>AirBNB</a:t>
            </a:r>
            <a:endParaRPr lang="es-CO" dirty="0"/>
          </a:p>
          <a:p>
            <a:pPr lvl="1"/>
            <a:r>
              <a:rPr lang="es-CO" dirty="0"/>
              <a:t>Localización</a:t>
            </a:r>
          </a:p>
          <a:p>
            <a:pPr lvl="1"/>
            <a:r>
              <a:rPr lang="es-CO" dirty="0"/>
              <a:t>Características vivienda</a:t>
            </a:r>
          </a:p>
          <a:p>
            <a:pPr lvl="1"/>
            <a:r>
              <a:rPr lang="es-CO" dirty="0"/>
              <a:t>Precio*noche</a:t>
            </a:r>
          </a:p>
          <a:p>
            <a:pPr lvl="1"/>
            <a:r>
              <a:rPr lang="es-CO" dirty="0"/>
              <a:t>Calificación</a:t>
            </a:r>
          </a:p>
          <a:p>
            <a:pPr lvl="1"/>
            <a:r>
              <a:rPr lang="es-CO" dirty="0"/>
              <a:t>Tipo de espacio (habitación, apartamento, casa, finca…)</a:t>
            </a:r>
          </a:p>
          <a:p>
            <a:pPr lvl="1"/>
            <a:r>
              <a:rPr lang="es-CO" dirty="0"/>
              <a:t>Otros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7D0E6F1-FD57-239F-C0A7-59162C09A400}"/>
              </a:ext>
            </a:extLst>
          </p:cNvPr>
          <p:cNvSpPr txBox="1">
            <a:spLocks/>
          </p:cNvSpPr>
          <p:nvPr/>
        </p:nvSpPr>
        <p:spPr>
          <a:xfrm>
            <a:off x="5699188" y="4569840"/>
            <a:ext cx="3375804" cy="9227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/>
              <a:t>2. Modelo de clasificación entre comentarios buenos-malos de cada establecimiento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3B1B125-1D49-BDFF-D217-7CFC425787B7}"/>
              </a:ext>
            </a:extLst>
          </p:cNvPr>
          <p:cNvSpPr txBox="1"/>
          <p:nvPr/>
        </p:nvSpPr>
        <p:spPr>
          <a:xfrm>
            <a:off x="120231" y="3949730"/>
            <a:ext cx="4371435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CO" dirty="0"/>
              <a:t>2. Matriz de Comentarios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Cadenas de caracteres de opinión sobre la estancia en el lugar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Id del lugar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FC09D3-7322-2B96-2FC0-1D20CC861626}"/>
              </a:ext>
            </a:extLst>
          </p:cNvPr>
          <p:cNvSpPr txBox="1"/>
          <p:nvPr/>
        </p:nvSpPr>
        <p:spPr>
          <a:xfrm>
            <a:off x="120231" y="5866314"/>
            <a:ext cx="4829175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CO" dirty="0"/>
              <a:t>3. Ocupación futura (calendario-línea de tiempo)</a:t>
            </a:r>
            <a:endParaRPr lang="es-MX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77CACCBC-3BE4-4B81-41DF-13F55D36D702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4491666" y="4549895"/>
            <a:ext cx="1207522" cy="481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5986510-BC36-2E3F-6AB8-327FD9A70895}"/>
              </a:ext>
            </a:extLst>
          </p:cNvPr>
          <p:cNvSpPr/>
          <p:nvPr/>
        </p:nvSpPr>
        <p:spPr>
          <a:xfrm>
            <a:off x="1314091" y="1156427"/>
            <a:ext cx="2251495" cy="35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Datos</a:t>
            </a:r>
            <a:endParaRPr lang="es-CO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7597688-DE3F-31C7-F404-56AC6FB3760E}"/>
              </a:ext>
            </a:extLst>
          </p:cNvPr>
          <p:cNvSpPr/>
          <p:nvPr/>
        </p:nvSpPr>
        <p:spPr>
          <a:xfrm>
            <a:off x="5699188" y="1041810"/>
            <a:ext cx="2953110" cy="434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Modelo objetivo</a:t>
            </a:r>
            <a:endParaRPr lang="es-CO" dirty="0"/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9A27BBA9-141C-3BAD-9214-B958B1559690}"/>
              </a:ext>
            </a:extLst>
          </p:cNvPr>
          <p:cNvSpPr txBox="1">
            <a:spLocks/>
          </p:cNvSpPr>
          <p:nvPr/>
        </p:nvSpPr>
        <p:spPr>
          <a:xfrm>
            <a:off x="5699188" y="1940951"/>
            <a:ext cx="3375804" cy="1214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/>
              <a:t>1. Modelo de regresión sobre el precio de alquiler</a:t>
            </a:r>
            <a:r>
              <a:rPr lang="es-MX" dirty="0">
                <a:solidFill>
                  <a:srgbClr val="FF0000"/>
                </a:solidFill>
              </a:rPr>
              <a:t>*ocupación anual (rentabilidad), o también solo precio o % ocupación anual.</a:t>
            </a:r>
          </a:p>
          <a:p>
            <a:pPr marL="0" indent="0">
              <a:buNone/>
            </a:pPr>
            <a:r>
              <a:rPr lang="es-MX" dirty="0"/>
              <a:t>Con </a:t>
            </a:r>
            <a:r>
              <a:rPr lang="es-MX" dirty="0" err="1"/>
              <a:t>vbles</a:t>
            </a:r>
            <a:r>
              <a:rPr lang="es-MX" dirty="0"/>
              <a:t> explicativas de otras columnas de la </a:t>
            </a:r>
            <a:r>
              <a:rPr lang="es-MX" dirty="0" err="1"/>
              <a:t>bd</a:t>
            </a:r>
            <a:endParaRPr lang="es-MX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F99BE447-5C71-F116-CDC3-88281611645C}"/>
              </a:ext>
            </a:extLst>
          </p:cNvPr>
          <p:cNvCxnSpPr>
            <a:cxnSpLocks/>
            <a:stCxn id="3" idx="3"/>
            <a:endCxn id="18" idx="1"/>
          </p:cNvCxnSpPr>
          <p:nvPr/>
        </p:nvCxnSpPr>
        <p:spPr>
          <a:xfrm flipV="1">
            <a:off x="4949406" y="2548340"/>
            <a:ext cx="749782" cy="112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145DFB3-4E18-56DF-6F91-9F15224D6281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 flipV="1">
            <a:off x="4491666" y="2548340"/>
            <a:ext cx="1207522" cy="2001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DA2419C-D931-3208-0C3A-ACC5578954CE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 flipV="1">
            <a:off x="4949406" y="2548340"/>
            <a:ext cx="749782" cy="3641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62CBB66-5113-5B34-7131-9C6579AB4375}"/>
              </a:ext>
            </a:extLst>
          </p:cNvPr>
          <p:cNvCxnSpPr>
            <a:cxnSpLocks/>
            <a:stCxn id="4" idx="3"/>
            <a:endCxn id="34" idx="1"/>
          </p:cNvCxnSpPr>
          <p:nvPr/>
        </p:nvCxnSpPr>
        <p:spPr>
          <a:xfrm flipV="1">
            <a:off x="9074992" y="3994730"/>
            <a:ext cx="1073266" cy="1036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92A09E03-AC90-2EE7-1580-1CF9CE4215E0}"/>
              </a:ext>
            </a:extLst>
          </p:cNvPr>
          <p:cNvSpPr txBox="1">
            <a:spLocks/>
          </p:cNvSpPr>
          <p:nvPr/>
        </p:nvSpPr>
        <p:spPr>
          <a:xfrm>
            <a:off x="10148258" y="3549117"/>
            <a:ext cx="1445821" cy="8912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/>
              <a:t>Matriz de clasificación de comentarios</a:t>
            </a:r>
          </a:p>
          <a:p>
            <a:pPr marL="0" indent="0">
              <a:buNone/>
            </a:pPr>
            <a:r>
              <a:rPr lang="es-MX" dirty="0"/>
              <a:t>“sentimentalismo de los comentarios” con </a:t>
            </a:r>
            <a:r>
              <a:rPr lang="es-MX" dirty="0" err="1"/>
              <a:t>llm</a:t>
            </a:r>
            <a:r>
              <a:rPr lang="es-MX" dirty="0"/>
              <a:t>.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937F4C19-60F0-D849-B141-CEFBA67BF8AD}"/>
              </a:ext>
            </a:extLst>
          </p:cNvPr>
          <p:cNvCxnSpPr>
            <a:cxnSpLocks/>
            <a:stCxn id="34" idx="1"/>
            <a:endCxn id="18" idx="2"/>
          </p:cNvCxnSpPr>
          <p:nvPr/>
        </p:nvCxnSpPr>
        <p:spPr>
          <a:xfrm flipH="1" flipV="1">
            <a:off x="7387090" y="3155728"/>
            <a:ext cx="2761168" cy="8390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ángulo 56">
            <a:extLst>
              <a:ext uri="{FF2B5EF4-FFF2-40B4-BE49-F238E27FC236}">
                <a16:creationId xmlns:a16="http://schemas.microsoft.com/office/drawing/2014/main" id="{529C4E17-FE23-B347-AF2D-FBEC4B7B1F2E}"/>
              </a:ext>
            </a:extLst>
          </p:cNvPr>
          <p:cNvSpPr/>
          <p:nvPr/>
        </p:nvSpPr>
        <p:spPr>
          <a:xfrm>
            <a:off x="10061275" y="1018555"/>
            <a:ext cx="1768416" cy="434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Resultados</a:t>
            </a:r>
            <a:endParaRPr lang="es-CO" dirty="0"/>
          </a:p>
        </p:txBody>
      </p:sp>
      <p:sp>
        <p:nvSpPr>
          <p:cNvPr id="58" name="Marcador de contenido 2">
            <a:extLst>
              <a:ext uri="{FF2B5EF4-FFF2-40B4-BE49-F238E27FC236}">
                <a16:creationId xmlns:a16="http://schemas.microsoft.com/office/drawing/2014/main" id="{31A28478-35AE-F5CB-F70A-4063C30F2A93}"/>
              </a:ext>
            </a:extLst>
          </p:cNvPr>
          <p:cNvSpPr txBox="1">
            <a:spLocks/>
          </p:cNvSpPr>
          <p:nvPr/>
        </p:nvSpPr>
        <p:spPr>
          <a:xfrm>
            <a:off x="10234343" y="2022703"/>
            <a:ext cx="1595347" cy="11330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/>
              <a:t>Modelo predictivo del </a:t>
            </a:r>
          </a:p>
          <a:p>
            <a:r>
              <a:rPr lang="es-MX" dirty="0"/>
              <a:t>Precio por noche o de la </a:t>
            </a:r>
          </a:p>
          <a:p>
            <a:r>
              <a:rPr lang="es-MX" dirty="0"/>
              <a:t>Rentabilidad anual</a:t>
            </a:r>
          </a:p>
          <a:p>
            <a:r>
              <a:rPr lang="es-MX" dirty="0"/>
              <a:t>Nivel de ocupación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BEA823D2-929E-245D-65D1-13C210B070D0}"/>
              </a:ext>
            </a:extLst>
          </p:cNvPr>
          <p:cNvCxnSpPr>
            <a:cxnSpLocks/>
            <a:stCxn id="18" idx="3"/>
            <a:endCxn id="58" idx="1"/>
          </p:cNvCxnSpPr>
          <p:nvPr/>
        </p:nvCxnSpPr>
        <p:spPr>
          <a:xfrm>
            <a:off x="9074992" y="2548340"/>
            <a:ext cx="1159351" cy="40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Marcador de contenido 2">
            <a:extLst>
              <a:ext uri="{FF2B5EF4-FFF2-40B4-BE49-F238E27FC236}">
                <a16:creationId xmlns:a16="http://schemas.microsoft.com/office/drawing/2014/main" id="{3E54AD25-09C7-5CFA-363B-CCC976E8A11C}"/>
              </a:ext>
            </a:extLst>
          </p:cNvPr>
          <p:cNvSpPr txBox="1">
            <a:spLocks/>
          </p:cNvSpPr>
          <p:nvPr/>
        </p:nvSpPr>
        <p:spPr>
          <a:xfrm>
            <a:off x="10264905" y="4975089"/>
            <a:ext cx="1445822" cy="8912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/>
              <a:t>Otra opción:</a:t>
            </a:r>
          </a:p>
          <a:p>
            <a:pPr marL="0" indent="0">
              <a:buNone/>
            </a:pPr>
            <a:r>
              <a:rPr lang="es-MX" dirty="0" err="1"/>
              <a:t>Dinamic</a:t>
            </a:r>
            <a:r>
              <a:rPr lang="es-MX" dirty="0"/>
              <a:t> </a:t>
            </a:r>
            <a:r>
              <a:rPr lang="es-MX" dirty="0" err="1"/>
              <a:t>pricing</a:t>
            </a:r>
            <a:r>
              <a:rPr lang="es-MX" dirty="0"/>
              <a:t>. Precio según la estacionalidad y condiciones</a:t>
            </a: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97E4E01E-04B8-271A-CCA0-9EDAAC62EF83}"/>
              </a:ext>
            </a:extLst>
          </p:cNvPr>
          <p:cNvCxnSpPr>
            <a:cxnSpLocks/>
            <a:stCxn id="4" idx="3"/>
            <a:endCxn id="70" idx="1"/>
          </p:cNvCxnSpPr>
          <p:nvPr/>
        </p:nvCxnSpPr>
        <p:spPr>
          <a:xfrm>
            <a:off x="9074992" y="5031192"/>
            <a:ext cx="1189913" cy="389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54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0BAAD-41CE-E771-71C5-6175BA76C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76" y="206821"/>
            <a:ext cx="2009492" cy="648046"/>
          </a:xfrm>
        </p:spPr>
        <p:txBody>
          <a:bodyPr>
            <a:normAutofit fontScale="90000"/>
          </a:bodyPr>
          <a:lstStyle/>
          <a:p>
            <a:r>
              <a:rPr lang="es-MX" dirty="0"/>
              <a:t>Proceso</a:t>
            </a:r>
            <a:endParaRPr lang="es-CO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45F3AD8-5277-4037-FA57-C0AC8B60266B}"/>
              </a:ext>
            </a:extLst>
          </p:cNvPr>
          <p:cNvGrpSpPr/>
          <p:nvPr/>
        </p:nvGrpSpPr>
        <p:grpSpPr>
          <a:xfrm>
            <a:off x="220178" y="1680834"/>
            <a:ext cx="5136825" cy="2035487"/>
            <a:chOff x="841280" y="1825625"/>
            <a:chExt cx="3753370" cy="3496331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61899A09-497A-BEB7-3576-C0AE9066533F}"/>
                </a:ext>
              </a:extLst>
            </p:cNvPr>
            <p:cNvSpPr/>
            <p:nvPr/>
          </p:nvSpPr>
          <p:spPr>
            <a:xfrm>
              <a:off x="841280" y="1825625"/>
              <a:ext cx="3753370" cy="1003839"/>
            </a:xfrm>
            <a:custGeom>
              <a:avLst/>
              <a:gdLst>
                <a:gd name="connsiteX0" fmla="*/ 0 w 3753370"/>
                <a:gd name="connsiteY0" fmla="*/ 0 h 1003839"/>
                <a:gd name="connsiteX1" fmla="*/ 3251451 w 3753370"/>
                <a:gd name="connsiteY1" fmla="*/ 0 h 1003839"/>
                <a:gd name="connsiteX2" fmla="*/ 3753370 w 3753370"/>
                <a:gd name="connsiteY2" fmla="*/ 501920 h 1003839"/>
                <a:gd name="connsiteX3" fmla="*/ 3251451 w 3753370"/>
                <a:gd name="connsiteY3" fmla="*/ 1003839 h 1003839"/>
                <a:gd name="connsiteX4" fmla="*/ 0 w 3753370"/>
                <a:gd name="connsiteY4" fmla="*/ 1003839 h 1003839"/>
                <a:gd name="connsiteX5" fmla="*/ 501920 w 3753370"/>
                <a:gd name="connsiteY5" fmla="*/ 501920 h 1003839"/>
                <a:gd name="connsiteX6" fmla="*/ 0 w 3753370"/>
                <a:gd name="connsiteY6" fmla="*/ 0 h 100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53370" h="1003839">
                  <a:moveTo>
                    <a:pt x="0" y="0"/>
                  </a:moveTo>
                  <a:lnTo>
                    <a:pt x="3251451" y="0"/>
                  </a:lnTo>
                  <a:lnTo>
                    <a:pt x="3753370" y="501920"/>
                  </a:lnTo>
                  <a:lnTo>
                    <a:pt x="3251451" y="1003839"/>
                  </a:lnTo>
                  <a:lnTo>
                    <a:pt x="0" y="1003839"/>
                  </a:lnTo>
                  <a:lnTo>
                    <a:pt x="501920" y="5019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41950" tIns="80010" rIns="581929" bIns="80010" numCol="1" spcCol="1270" anchor="ctr" anchorCtr="0">
              <a:noAutofit/>
            </a:bodyPr>
            <a:lstStyle/>
            <a:p>
              <a:pPr marL="0" lvl="0" indent="0" algn="ctr" defTabSz="2667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4800" kern="1200" dirty="0"/>
                <a:t>ML</a:t>
              </a:r>
              <a:endParaRPr lang="es-CO" sz="4800" kern="1200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13F6665A-790F-41B1-1D2C-5D20838A7D91}"/>
                </a:ext>
              </a:extLst>
            </p:cNvPr>
            <p:cNvSpPr/>
            <p:nvPr/>
          </p:nvSpPr>
          <p:spPr>
            <a:xfrm>
              <a:off x="841280" y="3071871"/>
              <a:ext cx="3753370" cy="1003839"/>
            </a:xfrm>
            <a:custGeom>
              <a:avLst/>
              <a:gdLst>
                <a:gd name="connsiteX0" fmla="*/ 0 w 3753370"/>
                <a:gd name="connsiteY0" fmla="*/ 0 h 1003839"/>
                <a:gd name="connsiteX1" fmla="*/ 3251451 w 3753370"/>
                <a:gd name="connsiteY1" fmla="*/ 0 h 1003839"/>
                <a:gd name="connsiteX2" fmla="*/ 3753370 w 3753370"/>
                <a:gd name="connsiteY2" fmla="*/ 501920 h 1003839"/>
                <a:gd name="connsiteX3" fmla="*/ 3251451 w 3753370"/>
                <a:gd name="connsiteY3" fmla="*/ 1003839 h 1003839"/>
                <a:gd name="connsiteX4" fmla="*/ 0 w 3753370"/>
                <a:gd name="connsiteY4" fmla="*/ 1003839 h 1003839"/>
                <a:gd name="connsiteX5" fmla="*/ 501920 w 3753370"/>
                <a:gd name="connsiteY5" fmla="*/ 501920 h 1003839"/>
                <a:gd name="connsiteX6" fmla="*/ 0 w 3753370"/>
                <a:gd name="connsiteY6" fmla="*/ 0 h 100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53370" h="1003839">
                  <a:moveTo>
                    <a:pt x="0" y="0"/>
                  </a:moveTo>
                  <a:lnTo>
                    <a:pt x="3251451" y="0"/>
                  </a:lnTo>
                  <a:lnTo>
                    <a:pt x="3753370" y="501920"/>
                  </a:lnTo>
                  <a:lnTo>
                    <a:pt x="3251451" y="1003839"/>
                  </a:lnTo>
                  <a:lnTo>
                    <a:pt x="0" y="1003839"/>
                  </a:lnTo>
                  <a:lnTo>
                    <a:pt x="501920" y="5019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41950" tIns="80010" rIns="581929" bIns="80010" numCol="1" spcCol="1270" anchor="ctr" anchorCtr="0">
              <a:noAutofit/>
            </a:bodyPr>
            <a:lstStyle/>
            <a:p>
              <a:pPr marL="0" lvl="0" indent="0" algn="ctr" defTabSz="2667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4800" kern="1200" dirty="0"/>
                <a:t>Datos</a:t>
              </a:r>
              <a:endParaRPr lang="es-CO" sz="4800" kern="1200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09DA8D6E-FC12-424A-2E38-9CD64E43A494}"/>
                </a:ext>
              </a:extLst>
            </p:cNvPr>
            <p:cNvSpPr/>
            <p:nvPr/>
          </p:nvSpPr>
          <p:spPr>
            <a:xfrm>
              <a:off x="841280" y="4318117"/>
              <a:ext cx="3753370" cy="1003839"/>
            </a:xfrm>
            <a:custGeom>
              <a:avLst/>
              <a:gdLst>
                <a:gd name="connsiteX0" fmla="*/ 0 w 3753370"/>
                <a:gd name="connsiteY0" fmla="*/ 0 h 1003839"/>
                <a:gd name="connsiteX1" fmla="*/ 3251451 w 3753370"/>
                <a:gd name="connsiteY1" fmla="*/ 0 h 1003839"/>
                <a:gd name="connsiteX2" fmla="*/ 3753370 w 3753370"/>
                <a:gd name="connsiteY2" fmla="*/ 501920 h 1003839"/>
                <a:gd name="connsiteX3" fmla="*/ 3251451 w 3753370"/>
                <a:gd name="connsiteY3" fmla="*/ 1003839 h 1003839"/>
                <a:gd name="connsiteX4" fmla="*/ 0 w 3753370"/>
                <a:gd name="connsiteY4" fmla="*/ 1003839 h 1003839"/>
                <a:gd name="connsiteX5" fmla="*/ 501920 w 3753370"/>
                <a:gd name="connsiteY5" fmla="*/ 501920 h 1003839"/>
                <a:gd name="connsiteX6" fmla="*/ 0 w 3753370"/>
                <a:gd name="connsiteY6" fmla="*/ 0 h 100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53370" h="1003839">
                  <a:moveTo>
                    <a:pt x="0" y="0"/>
                  </a:moveTo>
                  <a:lnTo>
                    <a:pt x="3251451" y="0"/>
                  </a:lnTo>
                  <a:lnTo>
                    <a:pt x="3753370" y="501920"/>
                  </a:lnTo>
                  <a:lnTo>
                    <a:pt x="3251451" y="1003839"/>
                  </a:lnTo>
                  <a:lnTo>
                    <a:pt x="0" y="1003839"/>
                  </a:lnTo>
                  <a:lnTo>
                    <a:pt x="501920" y="5019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41950" tIns="80010" rIns="581929" bIns="80010" numCol="1" spcCol="1270" anchor="ctr" anchorCtr="0">
              <a:noAutofit/>
            </a:bodyPr>
            <a:lstStyle/>
            <a:p>
              <a:pPr marL="0" lvl="0" indent="0" algn="ctr" defTabSz="2667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4800" kern="1200" dirty="0"/>
                <a:t>Limpieza</a:t>
              </a:r>
              <a:endParaRPr lang="es-CO" sz="4800" kern="1200" dirty="0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7C2876-643D-5D04-DD5C-4D8A2CADA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036" y="6199384"/>
            <a:ext cx="7326702" cy="362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D257F604-6828-45B2-697D-919FA45D1030}"/>
              </a:ext>
            </a:extLst>
          </p:cNvPr>
          <p:cNvSpPr/>
          <p:nvPr/>
        </p:nvSpPr>
        <p:spPr>
          <a:xfrm>
            <a:off x="233376" y="3867217"/>
            <a:ext cx="5136825" cy="584413"/>
          </a:xfrm>
          <a:custGeom>
            <a:avLst/>
            <a:gdLst>
              <a:gd name="connsiteX0" fmla="*/ 0 w 3753370"/>
              <a:gd name="connsiteY0" fmla="*/ 0 h 1003839"/>
              <a:gd name="connsiteX1" fmla="*/ 3251451 w 3753370"/>
              <a:gd name="connsiteY1" fmla="*/ 0 h 1003839"/>
              <a:gd name="connsiteX2" fmla="*/ 3753370 w 3753370"/>
              <a:gd name="connsiteY2" fmla="*/ 501920 h 1003839"/>
              <a:gd name="connsiteX3" fmla="*/ 3251451 w 3753370"/>
              <a:gd name="connsiteY3" fmla="*/ 1003839 h 1003839"/>
              <a:gd name="connsiteX4" fmla="*/ 0 w 3753370"/>
              <a:gd name="connsiteY4" fmla="*/ 1003839 h 1003839"/>
              <a:gd name="connsiteX5" fmla="*/ 501920 w 3753370"/>
              <a:gd name="connsiteY5" fmla="*/ 501920 h 1003839"/>
              <a:gd name="connsiteX6" fmla="*/ 0 w 3753370"/>
              <a:gd name="connsiteY6" fmla="*/ 0 h 100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53370" h="1003839">
                <a:moveTo>
                  <a:pt x="0" y="0"/>
                </a:moveTo>
                <a:lnTo>
                  <a:pt x="3251451" y="0"/>
                </a:lnTo>
                <a:lnTo>
                  <a:pt x="3753370" y="501920"/>
                </a:lnTo>
                <a:lnTo>
                  <a:pt x="3251451" y="1003839"/>
                </a:lnTo>
                <a:lnTo>
                  <a:pt x="0" y="1003839"/>
                </a:lnTo>
                <a:lnTo>
                  <a:pt x="501920" y="5019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41950" tIns="80010" rIns="581929" bIns="80010" numCol="1" spcCol="1270" anchor="ctr" anchorCtr="0">
            <a:noAutofit/>
          </a:bodyPr>
          <a:lstStyle/>
          <a:p>
            <a:pPr marL="0" lvl="0" indent="0" algn="ctr" defTabSz="2667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4800" kern="1200" dirty="0"/>
              <a:t>Columnas</a:t>
            </a:r>
            <a:endParaRPr lang="es-CO" sz="4800" kern="1200" dirty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80B8359B-0158-D811-4688-1EADB108DEBD}"/>
              </a:ext>
            </a:extLst>
          </p:cNvPr>
          <p:cNvSpPr/>
          <p:nvPr/>
        </p:nvSpPr>
        <p:spPr>
          <a:xfrm>
            <a:off x="233376" y="4602526"/>
            <a:ext cx="5136825" cy="584413"/>
          </a:xfrm>
          <a:custGeom>
            <a:avLst/>
            <a:gdLst>
              <a:gd name="connsiteX0" fmla="*/ 0 w 3753370"/>
              <a:gd name="connsiteY0" fmla="*/ 0 h 1003839"/>
              <a:gd name="connsiteX1" fmla="*/ 3251451 w 3753370"/>
              <a:gd name="connsiteY1" fmla="*/ 0 h 1003839"/>
              <a:gd name="connsiteX2" fmla="*/ 3753370 w 3753370"/>
              <a:gd name="connsiteY2" fmla="*/ 501920 h 1003839"/>
              <a:gd name="connsiteX3" fmla="*/ 3251451 w 3753370"/>
              <a:gd name="connsiteY3" fmla="*/ 1003839 h 1003839"/>
              <a:gd name="connsiteX4" fmla="*/ 0 w 3753370"/>
              <a:gd name="connsiteY4" fmla="*/ 1003839 h 1003839"/>
              <a:gd name="connsiteX5" fmla="*/ 501920 w 3753370"/>
              <a:gd name="connsiteY5" fmla="*/ 501920 h 1003839"/>
              <a:gd name="connsiteX6" fmla="*/ 0 w 3753370"/>
              <a:gd name="connsiteY6" fmla="*/ 0 h 100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53370" h="1003839">
                <a:moveTo>
                  <a:pt x="0" y="0"/>
                </a:moveTo>
                <a:lnTo>
                  <a:pt x="3251451" y="0"/>
                </a:lnTo>
                <a:lnTo>
                  <a:pt x="3753370" y="501920"/>
                </a:lnTo>
                <a:lnTo>
                  <a:pt x="3251451" y="1003839"/>
                </a:lnTo>
                <a:lnTo>
                  <a:pt x="0" y="1003839"/>
                </a:lnTo>
                <a:lnTo>
                  <a:pt x="501920" y="5019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41950" tIns="80010" rIns="581929" bIns="80010" numCol="1" spcCol="1270" anchor="ctr" anchorCtr="0">
            <a:noAutofit/>
          </a:bodyPr>
          <a:lstStyle/>
          <a:p>
            <a:pPr marL="0" lvl="0" indent="0" algn="ctr" defTabSz="2667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4800" kern="1200" dirty="0"/>
              <a:t>Modelos</a:t>
            </a:r>
            <a:endParaRPr lang="es-CO" sz="4800" kern="1200" dirty="0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97EEDF64-3CC7-DE6B-C778-CDAEB7AF95B5}"/>
              </a:ext>
            </a:extLst>
          </p:cNvPr>
          <p:cNvSpPr/>
          <p:nvPr/>
        </p:nvSpPr>
        <p:spPr>
          <a:xfrm>
            <a:off x="233376" y="5337835"/>
            <a:ext cx="5136825" cy="584413"/>
          </a:xfrm>
          <a:custGeom>
            <a:avLst/>
            <a:gdLst>
              <a:gd name="connsiteX0" fmla="*/ 0 w 3753370"/>
              <a:gd name="connsiteY0" fmla="*/ 0 h 1003839"/>
              <a:gd name="connsiteX1" fmla="*/ 3251451 w 3753370"/>
              <a:gd name="connsiteY1" fmla="*/ 0 h 1003839"/>
              <a:gd name="connsiteX2" fmla="*/ 3753370 w 3753370"/>
              <a:gd name="connsiteY2" fmla="*/ 501920 h 1003839"/>
              <a:gd name="connsiteX3" fmla="*/ 3251451 w 3753370"/>
              <a:gd name="connsiteY3" fmla="*/ 1003839 h 1003839"/>
              <a:gd name="connsiteX4" fmla="*/ 0 w 3753370"/>
              <a:gd name="connsiteY4" fmla="*/ 1003839 h 1003839"/>
              <a:gd name="connsiteX5" fmla="*/ 501920 w 3753370"/>
              <a:gd name="connsiteY5" fmla="*/ 501920 h 1003839"/>
              <a:gd name="connsiteX6" fmla="*/ 0 w 3753370"/>
              <a:gd name="connsiteY6" fmla="*/ 0 h 100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53370" h="1003839">
                <a:moveTo>
                  <a:pt x="0" y="0"/>
                </a:moveTo>
                <a:lnTo>
                  <a:pt x="3251451" y="0"/>
                </a:lnTo>
                <a:lnTo>
                  <a:pt x="3753370" y="501920"/>
                </a:lnTo>
                <a:lnTo>
                  <a:pt x="3251451" y="1003839"/>
                </a:lnTo>
                <a:lnTo>
                  <a:pt x="0" y="1003839"/>
                </a:lnTo>
                <a:lnTo>
                  <a:pt x="501920" y="5019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41950" tIns="80010" rIns="581929" bIns="80010" numCol="1" spcCol="1270" anchor="ctr" anchorCtr="0">
            <a:noAutofit/>
          </a:bodyPr>
          <a:lstStyle/>
          <a:p>
            <a:pPr marL="0" lvl="0" indent="0" algn="ctr" defTabSz="2667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4800" kern="1200" dirty="0"/>
              <a:t>Evaluación</a:t>
            </a:r>
            <a:endParaRPr lang="es-CO" sz="4800" kern="12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E1C37EE-3762-7712-0892-BC59C78972F5}"/>
              </a:ext>
            </a:extLst>
          </p:cNvPr>
          <p:cNvSpPr/>
          <p:nvPr/>
        </p:nvSpPr>
        <p:spPr>
          <a:xfrm>
            <a:off x="5564038" y="1680834"/>
            <a:ext cx="5917720" cy="584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Rubén</a:t>
            </a:r>
            <a:endParaRPr lang="es-CO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1CE53F4-9532-9967-0A71-4E997E186136}"/>
              </a:ext>
            </a:extLst>
          </p:cNvPr>
          <p:cNvSpPr/>
          <p:nvPr/>
        </p:nvSpPr>
        <p:spPr>
          <a:xfrm>
            <a:off x="5564038" y="2406371"/>
            <a:ext cx="5917720" cy="584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Andrés</a:t>
            </a:r>
            <a:endParaRPr lang="es-CO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AD7D8B1-D774-BE7A-75AA-25A28291450C}"/>
              </a:ext>
            </a:extLst>
          </p:cNvPr>
          <p:cNvSpPr/>
          <p:nvPr/>
        </p:nvSpPr>
        <p:spPr>
          <a:xfrm>
            <a:off x="5564038" y="3131908"/>
            <a:ext cx="5917720" cy="584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Reparar formato de pesos</a:t>
            </a:r>
            <a:endParaRPr lang="es-CO" sz="14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0ECAE39-9B44-86A5-74D2-18A62E25B477}"/>
              </a:ext>
            </a:extLst>
          </p:cNvPr>
          <p:cNvSpPr/>
          <p:nvPr/>
        </p:nvSpPr>
        <p:spPr>
          <a:xfrm>
            <a:off x="5564038" y="3855282"/>
            <a:ext cx="5917720" cy="584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Seleccionar las más explicativas teóricamente</a:t>
            </a:r>
            <a:endParaRPr lang="es-CO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BC8BEDA-E234-9758-176C-C3BE880926CF}"/>
              </a:ext>
            </a:extLst>
          </p:cNvPr>
          <p:cNvSpPr/>
          <p:nvPr/>
        </p:nvSpPr>
        <p:spPr>
          <a:xfrm>
            <a:off x="5564038" y="4578656"/>
            <a:ext cx="5917720" cy="584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Set de modelos</a:t>
            </a:r>
          </a:p>
          <a:p>
            <a:pPr algn="ctr"/>
            <a:r>
              <a:rPr lang="es-MX" sz="1200" dirty="0"/>
              <a:t>1. Regresión</a:t>
            </a:r>
          </a:p>
          <a:p>
            <a:pPr algn="ctr"/>
            <a:r>
              <a:rPr lang="es-MX" sz="1200" dirty="0"/>
              <a:t>2 Sentimentalismo</a:t>
            </a:r>
            <a:endParaRPr lang="es-CO" sz="12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24E23B4-9DED-19F0-E92E-4AA014274A2A}"/>
              </a:ext>
            </a:extLst>
          </p:cNvPr>
          <p:cNvSpPr/>
          <p:nvPr/>
        </p:nvSpPr>
        <p:spPr>
          <a:xfrm>
            <a:off x="5564038" y="5302030"/>
            <a:ext cx="5917720" cy="584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05AA7616-0AC4-9744-B351-CADE3088698A}"/>
              </a:ext>
            </a:extLst>
          </p:cNvPr>
          <p:cNvSpPr txBox="1">
            <a:spLocks/>
          </p:cNvSpPr>
          <p:nvPr/>
        </p:nvSpPr>
        <p:spPr>
          <a:xfrm>
            <a:off x="1238122" y="854867"/>
            <a:ext cx="2009492" cy="369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Scrum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1178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0BDAE-71FC-1918-7C83-D6482C098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Preguntas para </a:t>
            </a:r>
            <a:r>
              <a:rPr lang="es-MX" dirty="0" err="1"/>
              <a:t>claude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6E66FD-0947-178F-F65B-86D74F7EC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De mis columnas, ¿cuáles tienen mayor relación teórica con mis variables objetivo? Precio por noche, Rentabilidad anual, Nivel de ocupación.</a:t>
            </a:r>
          </a:p>
          <a:p>
            <a:r>
              <a:rPr lang="es-CO" dirty="0"/>
              <a:t>En la tabla de matriz de Comentarios, crea una columna de clasificación según el nivel de sentimentalismo de acuerdo a estándares </a:t>
            </a:r>
            <a:r>
              <a:rPr lang="es-CO" dirty="0" err="1"/>
              <a:t>técncos</a:t>
            </a:r>
            <a:r>
              <a:rPr lang="es-CO" dirty="0"/>
              <a:t> y estadísticos.</a:t>
            </a:r>
            <a:endParaRPr lang="es-MX" dirty="0"/>
          </a:p>
          <a:p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9823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0E68909605E94B8E15275D63AB715D" ma:contentTypeVersion="12" ma:contentTypeDescription="Crear nuevo documento." ma:contentTypeScope="" ma:versionID="08372a4980597bc49341c48a9a89025a">
  <xsd:schema xmlns:xsd="http://www.w3.org/2001/XMLSchema" xmlns:xs="http://www.w3.org/2001/XMLSchema" xmlns:p="http://schemas.microsoft.com/office/2006/metadata/properties" xmlns:ns3="e6acc555-ff32-4a7f-8343-a62ee6e29728" xmlns:ns4="5317efdf-056d-48e1-8789-6e2544a0b436" targetNamespace="http://schemas.microsoft.com/office/2006/metadata/properties" ma:root="true" ma:fieldsID="1fb5d18d37acbcf9bdbd86ddc908c10a" ns3:_="" ns4:_="">
    <xsd:import namespace="e6acc555-ff32-4a7f-8343-a62ee6e29728"/>
    <xsd:import namespace="5317efdf-056d-48e1-8789-6e2544a0b4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acc555-ff32-4a7f-8343-a62ee6e297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17efdf-056d-48e1-8789-6e2544a0b43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6acc555-ff32-4a7f-8343-a62ee6e29728" xsi:nil="true"/>
  </documentManagement>
</p:properties>
</file>

<file path=customXml/itemProps1.xml><?xml version="1.0" encoding="utf-8"?>
<ds:datastoreItem xmlns:ds="http://schemas.openxmlformats.org/officeDocument/2006/customXml" ds:itemID="{C01001F7-1808-4ADA-A9A7-B09CF10DB1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acc555-ff32-4a7f-8343-a62ee6e29728"/>
    <ds:schemaRef ds:uri="5317efdf-056d-48e1-8789-6e2544a0b4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D5F1C1-5E41-492E-8B17-06D44122ED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B774F6-C7B5-451E-A745-DE96FD218FE0}">
  <ds:schemaRefs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e6acc555-ff32-4a7f-8343-a62ee6e29728"/>
    <ds:schemaRef ds:uri="5317efdf-056d-48e1-8789-6e2544a0b436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306</Words>
  <Application>Microsoft Office PowerPoint</Application>
  <PresentationFormat>Panorámica</PresentationFormat>
  <Paragraphs>49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Preguntas de investigación</vt:lpstr>
      <vt:lpstr>Set de datos (3)</vt:lpstr>
      <vt:lpstr>Proceso</vt:lpstr>
      <vt:lpstr>Preguntas para claude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Esteban Palacio Pérez</dc:creator>
  <cp:lastModifiedBy>Esteban Palacio Pérez</cp:lastModifiedBy>
  <cp:revision>1</cp:revision>
  <dcterms:created xsi:type="dcterms:W3CDTF">2026-10-10T16:23:42Z</dcterms:created>
  <dcterms:modified xsi:type="dcterms:W3CDTF">2026-10-10T17:17:17Z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0x010100CF0E68909605E94B8E15275D63AB715D</vt:lpwstr>
  </property>
</Properties>
</file>